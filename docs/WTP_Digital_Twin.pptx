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Trebuchet MS"/>
              </a:rPr>
              <a:t>MODERN DEVELOPMENTS IN INDUSTRY · TUMA206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Trebuchet MS"/>
              </a:rPr>
              <a:t>Water Treatment Plant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Trebuchet MS"/>
              </a:rPr>
              <a:t>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A full industrial stack — field → PLC → MQTT → historian → dashboard — with an agentic AI operator assistant.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B0CC"/>
                </a:solidFill>
                <a:latin typeface="Calibri"/>
              </a:rPr>
              <a:t>Team: [names · matriculation · cohort]   ·   Demo day 25–26 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THE CAPSTONE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A working twin of a water-treatment tank that behaves like a real plant under stress — not just on the happy path. Every layer of the industrial stack is present, and an AI assistant helps the operator respond to faults.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44368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Process twin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Tank, pumps, valve, level &amp; pH sensors, dosing loop — physics integrated each scan.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44368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Deterministic PLC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on/off filling, PID dosing and a state machine on a fixed scan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43484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36007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End-to-end data path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Tag namespace → MQTT → InfluxDB historian → Grafana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3484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43484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636007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Agentic AI assistant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Detects faults and recommends operator actions in plain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FIELD TO AI IN ONE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3657600" cy="502920"/>
          </a:xfrm>
          <a:prstGeom prst="roundRect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7408" y="1417320"/>
            <a:ext cx="34381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Fault injection — operator panel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one fault per layer, at runtime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35040" y="1938528"/>
            <a:ext cx="182880" cy="219456"/>
          </a:xfrm>
          <a:prstGeom prst="down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2194560"/>
            <a:ext cx="3840480" cy="713232"/>
          </a:xfrm>
          <a:prstGeom prst="round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2194560"/>
            <a:ext cx="36210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Digital twin (process)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tank · pumps · valve · 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194560"/>
            <a:ext cx="3840480" cy="713232"/>
          </a:xfrm>
          <a:prstGeom prst="round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2194560"/>
            <a:ext cx="36210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Soft PLC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on/off · PID · state machine</a:t>
            </a:r>
          </a:p>
        </p:txBody>
      </p:sp>
      <p:sp>
        <p:nvSpPr>
          <p:cNvPr id="13" name="Left-Right Arrow 12"/>
          <p:cNvSpPr/>
          <p:nvPr/>
        </p:nvSpPr>
        <p:spPr>
          <a:xfrm>
            <a:off x="5303520" y="2432304"/>
            <a:ext cx="1645920" cy="256032"/>
          </a:xfrm>
          <a:prstGeom prst="left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2128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sensors ⇄ commands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35040" y="2962656"/>
            <a:ext cx="182880" cy="292608"/>
          </a:xfrm>
          <a:prstGeom prst="down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9809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B7B"/>
                </a:solidFill>
                <a:latin typeface="Calibri"/>
              </a:rPr>
              <a:t>publish 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346704"/>
            <a:ext cx="3657600" cy="603504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346704"/>
            <a:ext cx="3438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MQTT broker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Mosquitto · pub/sub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43200" y="4041648"/>
            <a:ext cx="182880" cy="274320"/>
          </a:xfrm>
          <a:prstGeom prst="down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235440" y="4041648"/>
            <a:ext cx="182880" cy="274320"/>
          </a:xfrm>
          <a:prstGeom prst="down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389120"/>
            <a:ext cx="3657600" cy="603504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389120"/>
            <a:ext cx="3438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Historian → InfluxDB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time-series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389120"/>
            <a:ext cx="3657600" cy="603504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4389120"/>
            <a:ext cx="3438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AI assistant → advice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detect · recommend · explain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606040" y="5084064"/>
            <a:ext cx="182880" cy="274320"/>
          </a:xfrm>
          <a:prstGeom prst="down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431536"/>
            <a:ext cx="3657600" cy="5486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431536"/>
            <a:ext cx="34381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Grafana 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live trends + alarms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LO6 — DEFEND EVERY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Stack &amp; justification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194560" cy="713232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2743200" cy="713232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06440" y="1828800"/>
            <a:ext cx="5577840" cy="713232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28800"/>
            <a:ext cx="5303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42032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Twin +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42032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Python, single scan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542032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Transparent control logic; easy to defend in the viva.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55264"/>
            <a:ext cx="10607040" cy="713232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55264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55264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MQTT (Mosquitto)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55264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Lightweight pub/sub; the de-facto IIoT transport; decouples field from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68496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68496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Historian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968496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InfluxDB 2.7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968496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Purpose-built time-series DB; retention &amp; downsampling; native Grafana link.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81728"/>
            <a:ext cx="10607040" cy="713232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81728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681728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681728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No frontend code; provisioned trends and alarm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94960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394960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94960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Claude (Anthropic SDK)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394960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Strong agentic reasoning; safe, explained advice; offline fallback.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6108192"/>
            <a:ext cx="10607040" cy="713232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108192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108192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Calibri"/>
              </a:rPr>
              <a:t>docker-compose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6108192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Calibri"/>
              </a:rPr>
              <a:t>One command brings up the whole stack — reproducible demo.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LO2 — THREE CONTROL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The twin &amp; its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One PLC scan cycle reads sensors, runs the logic, writes actuators — at a fixed period, like real hardware.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Trebuchet MS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3347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On/off  </a:t>
            </a:r>
            <a:r>
              <a:rPr sz="1300" b="0">
                <a:solidFill>
                  <a:srgbClr val="5A6B7B"/>
                </a:solidFill>
                <a:latin typeface="Calibri"/>
              </a:rPr>
              <a:t>Inlet pump fills the tank with hysteresis between low/high level setpoints.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Trebuchet MS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4787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PID  </a:t>
            </a:r>
            <a:r>
              <a:rPr sz="1300" b="0">
                <a:solidFill>
                  <a:srgbClr val="5A6B7B"/>
                </a:solidFill>
                <a:latin typeface="Calibri"/>
              </a:rPr>
              <a:t>Dosing pump regulates pH to setpoint with anti-windup integral clamping.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Trebuchet M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6227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State machine  </a:t>
            </a:r>
            <a:r>
              <a:rPr sz="1300" b="0">
                <a:solidFill>
                  <a:srgbClr val="5A6B7B"/>
                </a:solidFill>
                <a:latin typeface="Calibri"/>
              </a:rPr>
              <a:t>FILLING → TREATING → DISCHARGING phases sequence the batch.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669280"/>
            <a:ext cx="10607040" cy="731520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10149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Twin physics: </a:t>
            </a:r>
            <a:r>
              <a:rPr sz="1300" b="0">
                <a:solidFill>
                  <a:srgbClr val="5A6B7B"/>
                </a:solidFill>
                <a:latin typeface="Calibri"/>
              </a:rPr>
              <a:t>level from a mass balance (inflow − outflow), pH a first-order lag toward the dosing equilibrium — stable and explainable.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LO3 — FIELD TO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Tags &amp; the data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Every value is a named tag with a unit and type — the single source of truth all services share.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1295C"/>
                </a:solidFill>
                <a:latin typeface="Trebuchet MS"/>
              </a:rPr>
              <a:t>Example 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LIT101_level</a:t>
            </a:r>
            <a:r>
              <a:rPr sz="1100" b="0">
                <a:solidFill>
                  <a:srgbClr val="5A6B7B"/>
                </a:solidFill>
                <a:latin typeface="Calibri"/>
              </a:rPr>
              <a:t>   tank level ·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83864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AIT201_ph</a:t>
            </a:r>
            <a:r>
              <a:rPr sz="1100" b="0">
                <a:solidFill>
                  <a:srgbClr val="5A6B7B"/>
                </a:solidFill>
                <a:latin typeface="Calibri"/>
              </a:rPr>
              <a:t>   tank 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0448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FIT101_inlet_flow</a:t>
            </a:r>
            <a:r>
              <a:rPr sz="1100" b="0">
                <a:solidFill>
                  <a:srgbClr val="5A6B7B"/>
                </a:solidFill>
                <a:latin typeface="Calibri"/>
              </a:rPr>
              <a:t>   influent flow · m³/s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25112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P101_inlet_cmd / _run_fb</a:t>
            </a:r>
            <a:r>
              <a:rPr sz="1100" b="0">
                <a:solidFill>
                  <a:srgbClr val="5A6B7B"/>
                </a:solidFill>
                <a:latin typeface="Calibri"/>
              </a:rPr>
              <a:t>   command +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45736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P201_dose_cmd</a:t>
            </a:r>
            <a:r>
              <a:rPr sz="1100" b="0">
                <a:solidFill>
                  <a:srgbClr val="5A6B7B"/>
                </a:solidFill>
                <a:latin typeface="Calibri"/>
              </a:rPr>
              <a:t>   PID dosing output 0–1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PLC_state</a:t>
            </a:r>
            <a:r>
              <a:rPr sz="1100" b="0">
                <a:solidFill>
                  <a:srgbClr val="5A6B7B"/>
                </a:solidFill>
                <a:latin typeface="Calibri"/>
              </a:rPr>
              <a:t>   state-machine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86984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onsolas"/>
              </a:rPr>
              <a:t>LIT101_predicted</a:t>
            </a:r>
            <a:r>
              <a:rPr sz="1100" b="0">
                <a:solidFill>
                  <a:srgbClr val="5A6B7B"/>
                </a:solidFill>
                <a:latin typeface="Calibri"/>
              </a:rPr>
              <a:t>   mass-balance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468880"/>
            <a:ext cx="4206240" cy="566928"/>
          </a:xfrm>
          <a:prstGeom prst="round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468880"/>
            <a:ext cx="3986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Field device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Down Arrow 17"/>
          <p:cNvSpPr/>
          <p:nvPr/>
        </p:nvSpPr>
        <p:spPr>
          <a:xfrm>
            <a:off x="8686800" y="3017520"/>
            <a:ext cx="164592" cy="201168"/>
          </a:xfrm>
          <a:prstGeom prst="downArrow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3127248"/>
            <a:ext cx="4206240" cy="566928"/>
          </a:xfrm>
          <a:prstGeom prst="round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127248"/>
            <a:ext cx="3986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Soft PLC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Down Arrow 20"/>
          <p:cNvSpPr/>
          <p:nvPr/>
        </p:nvSpPr>
        <p:spPr>
          <a:xfrm>
            <a:off x="8686800" y="3675887"/>
            <a:ext cx="164592" cy="201168"/>
          </a:xfrm>
          <a:prstGeom prst="downArrow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0" y="3785615"/>
            <a:ext cx="4206240" cy="56692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785615"/>
            <a:ext cx="3986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MQTT broker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Down Arrow 23"/>
          <p:cNvSpPr/>
          <p:nvPr/>
        </p:nvSpPr>
        <p:spPr>
          <a:xfrm>
            <a:off x="8686800" y="4334255"/>
            <a:ext cx="164592" cy="201168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66560" y="4443983"/>
            <a:ext cx="4206240" cy="56692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4443983"/>
            <a:ext cx="3986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InfluxDB historian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Down Arrow 26"/>
          <p:cNvSpPr/>
          <p:nvPr/>
        </p:nvSpPr>
        <p:spPr>
          <a:xfrm>
            <a:off x="8686800" y="4992623"/>
            <a:ext cx="164592" cy="201168"/>
          </a:xfrm>
          <a:prstGeom prst="down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0" y="5102351"/>
            <a:ext cx="4206240" cy="56692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5102351"/>
            <a:ext cx="39867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Grafana 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LO4 — ONE FAULT PER PURDUE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Fault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377440" cy="54864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920240"/>
            <a:ext cx="3566160" cy="54864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12280" y="1920240"/>
            <a:ext cx="4572000" cy="54864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Detection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688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109728" cy="9144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6888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295C"/>
                </a:solidFill>
                <a:latin typeface="Trebuchet MS"/>
              </a:rPr>
              <a:t>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85A30"/>
                </a:solidFill>
                <a:latin typeface="Calibri"/>
              </a:rPr>
              <a:t>Level transmitter stuck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Diverges from mass-balance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9144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8328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295C"/>
                </a:solidFill>
                <a:latin typeface="Trebuchet MS"/>
              </a:rPr>
              <a:t>Equipment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8328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A7517"/>
                </a:solidFill>
                <a:latin typeface="Calibri"/>
              </a:rPr>
              <a:t>Inlet pump runs, no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Command + feedback ON while flow ≈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976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297680"/>
            <a:ext cx="109728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9768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295C"/>
                </a:solidFill>
                <a:latin typeface="Trebuchet MS"/>
              </a:rPr>
              <a:t>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9768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pH excursion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9768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Setpoint deviation beyond alarm band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2120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212080"/>
            <a:ext cx="109728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21208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295C"/>
                </a:solidFill>
                <a:latin typeface="Trebuchet MS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21208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MQTT broker / data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21208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Telemetry staleness watchdog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FAST, DETERMINISTIC,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Detection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120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51206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Analytical redundancy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 stuck sensor diverges from an independent estimate (mass balance). A dead pump leaves both flat — that's how we tell them apart.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886200"/>
            <a:ext cx="5120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886200"/>
            <a:ext cx="51206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Command vs effect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 running motor contactor doesn't prove flow. Comparing command to measured flow catches mechanical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120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51206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1488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Setpoint deviation + debounce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pH alarms only after the deviation persists, so transient noise doesn't trip false alarms.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120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886200"/>
            <a:ext cx="51206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4114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Staleness on time, not value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When all tags go quiet at once it's a data outage — not a process alarm. Operators must not chase a phantom.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LO5 — RECOMMEND &amp; EXPLAIN,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The AI operator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7293"/>
                </a:solidFill>
                <a:latin typeface="Trebuchet MS"/>
              </a:rPr>
              <a:t>Detect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Rule-based checks raise a fault from sensor cross-checks and trends — independent of the LLM.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9718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7293"/>
                </a:solidFill>
                <a:latin typeface="Trebuchet MS"/>
              </a:rPr>
              <a:t>Recommend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Claude receives the fault + a recent tag snapshot and returns diagnosis, actions and reasoning as JSON.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C7293"/>
                </a:solidFill>
                <a:latin typeface="Trebuchet MS"/>
              </a:rPr>
              <a:t>Explain &amp; advise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Plain-language guidance grounded in the data — the agent advises, a human decides.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10607040" cy="13716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2C39A"/>
                </a:solidFill>
                <a:latin typeface="Trebuchet MS"/>
              </a:rPr>
              <a:t>Safety &amp; resilience  </a:t>
            </a:r>
            <a:r>
              <a:rPr sz="1400" b="0">
                <a:solidFill>
                  <a:srgbClr val="CADCFC"/>
                </a:solidFill>
                <a:latin typeface="Calibri"/>
              </a:rPr>
              <a:t>— the agent never actuates; it must ground claims in the data it was shown; and if the API is unavailable it falls back to a built-in playbook so the live demo always produces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DETECT + ALERT + ADVISE ≤ 60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Demo day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For each of the four faults, injected live from the operator panel: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841248" cy="8412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68880"/>
            <a:ext cx="9144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Inject  —  </a:t>
            </a:r>
            <a:r>
              <a:rPr sz="1350" b="0">
                <a:solidFill>
                  <a:srgbClr val="5A6B7B"/>
                </a:solidFill>
                <a:latin typeface="Calibri"/>
              </a:rPr>
              <a:t>operator panel publishes the fault to the control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01568"/>
            <a:ext cx="10607040" cy="841248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401568"/>
            <a:ext cx="841248" cy="8412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9144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Twin reacts  —  </a:t>
            </a:r>
            <a:r>
              <a:rPr sz="1350" b="0">
                <a:solidFill>
                  <a:srgbClr val="5A6B7B"/>
                </a:solidFill>
                <a:latin typeface="Calibri"/>
              </a:rPr>
              <a:t>physics + PLC respond; the fault propagates through the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34256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334256"/>
            <a:ext cx="841248" cy="8412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3425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34256"/>
            <a:ext cx="9144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Detect &amp; alarm  —  </a:t>
            </a:r>
            <a:r>
              <a:rPr sz="1350" b="0">
                <a:solidFill>
                  <a:srgbClr val="5A6B7B"/>
                </a:solidFill>
                <a:latin typeface="Calibri"/>
              </a:rPr>
              <a:t>rule engine raises the fault; Grafana shows the trend break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66944"/>
            <a:ext cx="10607040" cy="841248"/>
          </a:xfrm>
          <a:prstGeom prst="roundRect">
            <a:avLst/>
          </a:prstGeom>
          <a:solidFill>
            <a:srgbClr val="EAF1F6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266944"/>
            <a:ext cx="841248" cy="8412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66944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66944"/>
            <a:ext cx="9144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Trebuchet MS"/>
              </a:rPr>
              <a:t>AI recommends  —  </a:t>
            </a:r>
            <a:r>
              <a:rPr sz="1350" b="0">
                <a:solidFill>
                  <a:srgbClr val="5A6B7B"/>
                </a:solidFill>
                <a:latin typeface="Calibri"/>
              </a:rPr>
              <a:t>assistant posts diagnosis + actions, all within 60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Trebuchet MS"/>
              </a:rPr>
              <a:t>EXPECT VIVA QUESTIONS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295C"/>
                </a:solidFill>
                <a:latin typeface="Trebuchet MS"/>
              </a:rPr>
              <a:t>Design decisions &amp;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64592" cy="78638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Trebuchet MS"/>
              </a:rPr>
              <a:t>Detect deterministically, then ask the LLM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Guarantees the ≤60 s requirement even if the model is slow or offline; the LLM adds the reasoning, not the trigger.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64592" cy="78638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Trebuchet MS"/>
              </a:rPr>
              <a:t>MQTT over OPC-UA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Simpler and lighter; we accept losing OPC-UA's richer typed metadata.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657600"/>
            <a:ext cx="164592" cy="78638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Trebuchet MS"/>
              </a:rPr>
              <a:t>First-order physics, not CFD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Enough fidelity to make control loops and faults realistic, while staying explainable.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164592" cy="78638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72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Trebuchet MS"/>
              </a:rPr>
              <a:t>InfluxDB over plain SQL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Time-series native: retention, downsampling and Grafana integration out of the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86400"/>
            <a:ext cx="164592" cy="78638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486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Trebuchet MS"/>
              </a:rPr>
              <a:t>Agent advises, never actuates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Human-in-the-loop is the safe pattern for an operator assistant.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TUMA206 · Water Treatment Plant Digital 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Questions on any part of the system — we can walk through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2C39A"/>
                </a:solidFill>
                <a:latin typeface="Consolas"/>
              </a:rPr>
              <a:t>Repo: github.com/[team]/wtp-digital-twin   ·   Live demo: docker compose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